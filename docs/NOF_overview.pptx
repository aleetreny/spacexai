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2331720"/>
            <a:ext cx="1463040" cy="457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1409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7600" b="1" dirty="0">
                <a:solidFill>
                  <a:srgbClr val="F1F5F9"/>
                </a:solidFill>
                <a:latin typeface="Segoe UI"/>
              </a:rPr>
              <a:t>N</a:t>
            </a:r>
            <a:r>
              <a:rPr lang="en-GB" sz="7600" b="1" dirty="0" err="1">
                <a:solidFill>
                  <a:srgbClr val="F1F5F9"/>
                </a:solidFill>
                <a:latin typeface="Segoe UI"/>
              </a:rPr>
              <a:t>ight</a:t>
            </a:r>
            <a:r>
              <a:rPr lang="en-GB" sz="7600" b="1" dirty="0">
                <a:solidFill>
                  <a:srgbClr val="F1F5F9"/>
                </a:solidFill>
                <a:latin typeface="Segoe UI"/>
              </a:rPr>
              <a:t> Office</a:t>
            </a:r>
            <a:endParaRPr sz="7600" b="1" dirty="0">
              <a:solidFill>
                <a:srgbClr val="F1F5F9"/>
              </a:solidFill>
              <a:latin typeface="Segoe U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3400" b="0">
                <a:solidFill>
                  <a:srgbClr val="38BDF8"/>
                </a:solidFill>
                <a:latin typeface="Segoe UI"/>
              </a:rPr>
              <a:t>Rent the hours nobody uses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262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900" b="0">
                <a:solidFill>
                  <a:srgbClr val="94A3B8"/>
                </a:solidFill>
                <a:latin typeface="Segoe UI"/>
              </a:rPr>
              <a:t>London co-working space sits empty every evening and all weekend.</a:t>
            </a:r>
            <a:br/>
            <a:r>
              <a:rPr sz="1900" b="0">
                <a:solidFill>
                  <a:srgbClr val="94A3B8"/>
                </a:solidFill>
                <a:latin typeface="Segoe UI"/>
              </a:rPr>
              <a:t>Hackathon communities need exactly those hours.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300" b="0">
                <a:solidFill>
                  <a:srgbClr val="94A3B8"/>
                </a:solidFill>
                <a:latin typeface="Segoe UI"/>
              </a:rPr>
              <a:t>Community × venue matching  ·  22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777240"/>
            <a:ext cx="1097280" cy="457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4000" b="1">
                <a:solidFill>
                  <a:srgbClr val="F1F5F9"/>
                </a:solidFill>
                <a:latin typeface="Segoe UI"/>
              </a:rPr>
              <a:t>The opportunity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484632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234440" y="2286000"/>
            <a:ext cx="4206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VENUES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000" b="0">
                <a:solidFill>
                  <a:srgbClr val="F1F5F9"/>
                </a:solidFill>
                <a:latin typeface="Segoe UI"/>
              </a:rPr>
              <a:t>Close at 18:00. Shut at weekends.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000" b="0">
                <a:solidFill>
                  <a:srgbClr val="94A3B8"/>
                </a:solidFill>
                <a:latin typeface="Segoe UI"/>
              </a:rPr>
              <a:t>The rent runs anyway.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011680"/>
            <a:ext cx="4846320" cy="22860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20840" y="2286000"/>
            <a:ext cx="4206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COMMUNITIES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000" b="0">
                <a:solidFill>
                  <a:srgbClr val="F1F5F9"/>
                </a:solidFill>
                <a:latin typeface="Segoe UI"/>
              </a:rPr>
              <a:t>Meet evenings and weekends.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2000" b="0">
                <a:solidFill>
                  <a:srgbClr val="94A3B8"/>
                </a:solidFill>
                <a:latin typeface="Segoe UI"/>
              </a:rPr>
              <a:t>Priced out of event space.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600" b="1">
                <a:solidFill>
                  <a:srgbClr val="F1F5F9"/>
                </a:solidFill>
                <a:latin typeface="Segoe UI"/>
              </a:rPr>
              <a:t>The arbitrage is on time, not property 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4068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200" b="0">
                <a:solidFill>
                  <a:srgbClr val="38BDF8"/>
                </a:solidFill>
                <a:latin typeface="Segoe UI"/>
              </a:rPr>
              <a:t>the same square metres sold twice, into a window the landlord already writes off.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777240"/>
            <a:ext cx="1097280" cy="457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4000" b="1">
                <a:solidFill>
                  <a:srgbClr val="F1F5F9"/>
                </a:solidFill>
                <a:latin typeface="Segoe UI"/>
              </a:rPr>
              <a:t>What a community pays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200" b="0">
                <a:solidFill>
                  <a:srgbClr val="94A3B8"/>
                </a:solidFill>
                <a:latin typeface="Segoe UI"/>
              </a:rPr>
              <a:t>Two costs. Nothing else.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468880"/>
            <a:ext cx="484632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34440" y="2697480"/>
            <a:ext cx="4206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500" b="1">
                <a:solidFill>
                  <a:srgbClr val="38BDF8"/>
                </a:solidFill>
                <a:latin typeface="Segoe UI"/>
              </a:rPr>
              <a:t>1 · CLEANING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900" b="0">
                <a:solidFill>
                  <a:srgbClr val="F1F5F9"/>
                </a:solidFill>
                <a:latin typeface="Segoe UI"/>
              </a:rPr>
              <a:t>Restore the space to weekday condition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468880"/>
            <a:ext cx="4846320" cy="14630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20840" y="2697480"/>
            <a:ext cx="4206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500" b="1">
                <a:solidFill>
                  <a:srgbClr val="38BDF8"/>
                </a:solidFill>
                <a:latin typeface="Segoe UI"/>
              </a:rPr>
              <a:t>2 · STAFF</a:t>
            </a:r>
          </a:p>
          <a:p>
            <a:pPr algn="l">
              <a:lnSpc>
                <a:spcPct val="130000"/>
              </a:lnSpc>
              <a:spcAft>
                <a:spcPts val="1000"/>
              </a:spcAft>
            </a:pPr>
            <a:r>
              <a:rPr sz="1900" b="0">
                <a:solidFill>
                  <a:srgbClr val="F1F5F9"/>
                </a:solidFill>
                <a:latin typeface="Segoe UI"/>
              </a:rPr>
              <a:t>Per 50 event members — supervision scaled to headcount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600" b="1">
                <a:solidFill>
                  <a:srgbClr val="38BDF8"/>
                </a:solidFill>
                <a:latin typeface="Segoe UI"/>
              </a:rPr>
              <a:t>No rent.   No venue hire fee.   No hourly rate.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800" b="0">
                <a:solidFill>
                  <a:srgbClr val="94A3B8"/>
                </a:solidFill>
                <a:latin typeface="Segoe UI"/>
              </a:rPr>
              <a:t>The venue is not selling time it was otherwise using, so its marginal cost is cleaning</a:t>
            </a:r>
            <a:br/>
            <a:r>
              <a:rPr sz="1800" b="0">
                <a:solidFill>
                  <a:srgbClr val="94A3B8"/>
                </a:solidFill>
                <a:latin typeface="Segoe UI"/>
              </a:rPr>
              <a:t>and supervision — exactly what the community covers. The alternative is an empty building.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6172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1700" b="0">
                <a:solidFill>
                  <a:srgbClr val="FBBF24"/>
                </a:solidFill>
                <a:latin typeface="Segoe UI"/>
              </a:rPr>
              <a:t>Headcount is therefore a price, not just a logistics number.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777240"/>
            <a:ext cx="1097280" cy="4572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4000" b="1">
                <a:solidFill>
                  <a:srgbClr val="F1F5F9"/>
                </a:solidFill>
                <a:latin typeface="Segoe UI"/>
              </a:rPr>
              <a:t>How the match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9164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200" b="0">
                <a:solidFill>
                  <a:srgbClr val="94A3B8"/>
                </a:solidFill>
                <a:latin typeface="Segoe UI"/>
              </a:rPr>
              <a:t>Everything reduces to two joins.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377440"/>
            <a:ext cx="402336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34440" y="2606040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COMMUNITY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>
                <a:solidFill>
                  <a:srgbClr val="F1F5F9"/>
                </a:solidFill>
                <a:latin typeface="Segoe UI"/>
              </a:rPr>
              <a:t>typical_attendance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>
                <a:solidFill>
                  <a:srgbClr val="F1F5F9"/>
                </a:solidFill>
                <a:latin typeface="Segoe UI"/>
              </a:rPr>
              <a:t>schedule_pattern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>
                <a:solidFill>
                  <a:srgbClr val="F1F5F9"/>
                </a:solidFill>
                <a:latin typeface="Segoe UI"/>
              </a:rPr>
              <a:t>typical_start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306324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0000"/>
              </a:lnSpc>
              <a:spcAft>
                <a:spcPts val="1000"/>
              </a:spcAft>
            </a:pPr>
            <a:r>
              <a:rPr sz="2600" b="0">
                <a:solidFill>
                  <a:srgbClr val="38BDF8"/>
                </a:solidFill>
                <a:latin typeface="Segoe UI"/>
              </a:rPr>
              <a:t>──►</a:t>
            </a:r>
            <a:br/>
            <a:r>
              <a:rPr sz="2600" b="0">
                <a:solidFill>
                  <a:srgbClr val="38BDF8"/>
                </a:solidFill>
                <a:latin typeface="Segoe UI"/>
              </a:rPr>
              <a:t>──►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2377440"/>
            <a:ext cx="4023360" cy="2103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543800" y="2606040"/>
            <a:ext cx="3474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400" b="1">
                <a:solidFill>
                  <a:srgbClr val="38BDF8"/>
                </a:solidFill>
                <a:latin typeface="Segoe UI"/>
              </a:rPr>
              <a:t>VENUE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>
                <a:solidFill>
                  <a:srgbClr val="F1F5F9"/>
                </a:solidFill>
                <a:latin typeface="Segoe UI"/>
              </a:rPr>
              <a:t>capacity_total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>
                <a:solidFill>
                  <a:srgbClr val="F1F5F9"/>
                </a:solidFill>
                <a:latin typeface="Segoe UI"/>
              </a:rPr>
              <a:t>weekday_close</a:t>
            </a:r>
          </a:p>
          <a:p>
            <a:pPr algn="l">
              <a:lnSpc>
                <a:spcPct val="125000"/>
              </a:lnSpc>
              <a:spcAft>
                <a:spcPts val="400"/>
              </a:spcAft>
            </a:pPr>
            <a:r>
              <a:rPr sz="1800" b="0">
                <a:solidFill>
                  <a:srgbClr val="F1F5F9"/>
                </a:solidFill>
                <a:latin typeface="Segoe UI"/>
              </a:rPr>
              <a:t>weekend_open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548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5000"/>
              </a:lnSpc>
              <a:spcAft>
                <a:spcPts val="1000"/>
              </a:spcAft>
            </a:pPr>
            <a:r>
              <a:rPr sz="2400" b="1">
                <a:solidFill>
                  <a:srgbClr val="F1F5F9"/>
                </a:solidFill>
                <a:latin typeface="Segoe UI"/>
              </a:rPr>
              <a:t>Closed when they meet  ·  Big enough to hold them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48640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40000"/>
              </a:lnSpc>
              <a:spcAft>
                <a:spcPts val="1000"/>
              </a:spcAft>
            </a:pPr>
            <a:r>
              <a:rPr sz="1800" b="0">
                <a:solidFill>
                  <a:srgbClr val="94A3B8"/>
                </a:solidFill>
                <a:latin typeface="Segoe UI"/>
              </a:rPr>
              <a:t>A missing input returns “unknown” — never an optimistic guess.</a:t>
            </a:r>
            <a:br/>
            <a:r>
              <a:rPr sz="1800" b="0">
                <a:solidFill>
                  <a:srgbClr val="94A3B8"/>
                </a:solidFill>
                <a:latin typeface="Segoe UI"/>
              </a:rPr>
              <a:t>A matching engine that assumes the best when it lacks data produces confident nonsense.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249</Words>
  <Application>Microsoft Office PowerPoint</Application>
  <PresentationFormat>Widescreen</PresentationFormat>
  <Paragraphs>35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Mark .</cp:lastModifiedBy>
  <cp:revision>3</cp:revision>
  <dcterms:created xsi:type="dcterms:W3CDTF">2013-01-27T09:14:16Z</dcterms:created>
  <dcterms:modified xsi:type="dcterms:W3CDTF">2026-10-22T20:29:38Z</dcterms:modified>
  <cp:category/>
</cp:coreProperties>
</file>